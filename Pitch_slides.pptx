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embeddedFontLst>
    <p:embeddedFont>
      <p:font typeface="Urbanist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Urbanist-regular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Urbanist-italic.fntdata"/><Relationship Id="rId14" Type="http://schemas.openxmlformats.org/officeDocument/2006/relationships/font" Target="fonts/Urbanist-bold.fntdata"/><Relationship Id="rId16" Type="http://schemas.openxmlformats.org/officeDocument/2006/relationships/font" Target="fonts/Urbanist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90b1b1103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e90b1b1103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1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p18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p1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19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p19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19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p1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p21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5"/>
          <p:cNvSpPr txBox="1"/>
          <p:nvPr/>
        </p:nvSpPr>
        <p:spPr>
          <a:xfrm>
            <a:off x="295275" y="1533525"/>
            <a:ext cx="11601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F1 Driver </a:t>
            </a:r>
            <a:r>
              <a:rPr b="1" i="0" lang="en-US" sz="6000" u="none" cap="none" strike="noStrike">
                <a:solidFill>
                  <a:srgbClr val="E10600"/>
                </a:solidFill>
                <a:latin typeface="Urbanist"/>
                <a:ea typeface="Urbanist"/>
                <a:cs typeface="Urbanist"/>
                <a:sym typeface="Urbanist"/>
              </a:rPr>
              <a:t>Management</a:t>
            </a: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System</a:t>
            </a:r>
            <a:endParaRPr/>
          </a:p>
        </p:txBody>
      </p:sp>
      <p:sp>
        <p:nvSpPr>
          <p:cNvPr id="161" name="Google Shape;161;p25"/>
          <p:cNvSpPr txBox="1"/>
          <p:nvPr/>
        </p:nvSpPr>
        <p:spPr>
          <a:xfrm>
            <a:off x="571500" y="2600325"/>
            <a:ext cx="11049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Data-Driven Engineering &amp; Performance Analytics</a:t>
            </a:r>
            <a:endParaRPr sz="1800">
              <a:solidFill>
                <a:srgbClr val="88888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Project by Eldiiar Sadykov</a:t>
            </a:r>
            <a:endParaRPr sz="1800">
              <a:solidFill>
                <a:srgbClr val="88888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image.png" id="162" name="Google Shape;16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6450" y="609600"/>
            <a:ext cx="41910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81250"/>
            <a:ext cx="5286375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381250"/>
            <a:ext cx="5286375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6"/>
          <p:cNvSpPr txBox="1"/>
          <p:nvPr/>
        </p:nvSpPr>
        <p:spPr>
          <a:xfrm>
            <a:off x="857250" y="2689475"/>
            <a:ext cx="495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Fragmented Data</a:t>
            </a:r>
            <a:endParaRPr sz="2400"/>
          </a:p>
        </p:txBody>
      </p:sp>
      <p:sp>
        <p:nvSpPr>
          <p:cNvPr id="171" name="Google Shape;171;p26"/>
          <p:cNvSpPr txBox="1"/>
          <p:nvPr/>
        </p:nvSpPr>
        <p:spPr>
          <a:xfrm>
            <a:off x="857250" y="3800475"/>
            <a:ext cx="4714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Teams currently struggle with </a:t>
            </a:r>
            <a:r>
              <a:rPr lang="en-US" sz="13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sliced 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systems for race results, technical specs, and financial tracking. This delay in insight costs precious milliseconds on track.</a:t>
            </a:r>
            <a:endParaRPr/>
          </a:p>
        </p:txBody>
      </p:sp>
      <p:sp>
        <p:nvSpPr>
          <p:cNvPr id="172" name="Google Shape;172;p26"/>
          <p:cNvSpPr txBox="1"/>
          <p:nvPr/>
        </p:nvSpPr>
        <p:spPr>
          <a:xfrm>
            <a:off x="6619875" y="2689475"/>
            <a:ext cx="495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Cost Efficiency</a:t>
            </a:r>
            <a:endParaRPr sz="2400"/>
          </a:p>
        </p:txBody>
      </p:sp>
      <p:sp>
        <p:nvSpPr>
          <p:cNvPr id="173" name="Google Shape;173;p26"/>
          <p:cNvSpPr txBox="1"/>
          <p:nvPr/>
        </p:nvSpPr>
        <p:spPr>
          <a:xfrm>
            <a:off x="6619875" y="3800475"/>
            <a:ext cx="47148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With a strict budget cap, every dollar spent must translate to points. Without real-time "Cost-per-Point" analytics, teams risk inefficient capital allocation.</a:t>
            </a:r>
            <a:endParaRPr/>
          </a:p>
        </p:txBody>
      </p:sp>
      <p:sp>
        <p:nvSpPr>
          <p:cNvPr id="174" name="Google Shape;174;p26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Issues in Current Formula-1 Management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0" y="1895475"/>
            <a:ext cx="52959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7"/>
          <p:cNvSpPr txBox="1"/>
          <p:nvPr/>
        </p:nvSpPr>
        <p:spPr>
          <a:xfrm>
            <a:off x="571500" y="1666875"/>
            <a:ext cx="554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Bridging Lab &amp; Track</a:t>
            </a:r>
            <a:endParaRPr sz="2400"/>
          </a:p>
        </p:txBody>
      </p:sp>
      <p:sp>
        <p:nvSpPr>
          <p:cNvPr id="182" name="Google Shape;182;p27"/>
          <p:cNvSpPr txBox="1"/>
          <p:nvPr/>
        </p:nvSpPr>
        <p:spPr>
          <a:xfrm>
            <a:off x="571500" y="2286000"/>
            <a:ext cx="5277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This system 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centralizes 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technical data, driver performance, and financial oversight into a single source of truth.</a:t>
            </a:r>
            <a:endParaRPr/>
          </a:p>
        </p:txBody>
      </p:sp>
      <p:pic>
        <p:nvPicPr>
          <p:cNvPr descr="image.png" id="183" name="Google Shape;18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05000"/>
            <a:ext cx="52768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7"/>
          <p:cNvSpPr txBox="1"/>
          <p:nvPr/>
        </p:nvSpPr>
        <p:spPr>
          <a:xfrm>
            <a:off x="904875" y="2971800"/>
            <a:ext cx="4943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Unified technical car profiles</a:t>
            </a:r>
            <a:endParaRPr/>
          </a:p>
        </p:txBody>
      </p:sp>
      <p:sp>
        <p:nvSpPr>
          <p:cNvPr id="185" name="Google Shape;185;p27"/>
          <p:cNvSpPr txBox="1"/>
          <p:nvPr/>
        </p:nvSpPr>
        <p:spPr>
          <a:xfrm>
            <a:off x="904875" y="3419475"/>
            <a:ext cx="49434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Real-time result ingestion</a:t>
            </a:r>
            <a:endParaRPr/>
          </a:p>
        </p:txBody>
      </p:sp>
      <p:sp>
        <p:nvSpPr>
          <p:cNvPr id="186" name="Google Shape;186;p27"/>
          <p:cNvSpPr txBox="1"/>
          <p:nvPr/>
        </p:nvSpPr>
        <p:spPr>
          <a:xfrm>
            <a:off x="904875" y="3867150"/>
            <a:ext cx="49434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Automated budget tracking</a:t>
            </a:r>
            <a:endParaRPr/>
          </a:p>
        </p:txBody>
      </p:sp>
      <p:pic>
        <p:nvPicPr>
          <p:cNvPr descr="image.png" id="187" name="Google Shape;187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0146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623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10012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7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An Integrated Racing </a:t>
            </a:r>
            <a:r>
              <a:rPr b="1" lang="en-US" sz="36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Management System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8"/>
          <p:cNvSpPr txBox="1"/>
          <p:nvPr/>
        </p:nvSpPr>
        <p:spPr>
          <a:xfrm>
            <a:off x="686075" y="435850"/>
            <a:ext cx="590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Database </a:t>
            </a: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Relation</a:t>
            </a:r>
            <a:r>
              <a:rPr b="1" lang="en-US" sz="36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</a:t>
            </a: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Schem</a:t>
            </a:r>
            <a:r>
              <a:rPr b="1" lang="en-US" sz="36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</a:t>
            </a:r>
            <a:endParaRPr/>
          </a:p>
        </p:txBody>
      </p:sp>
      <p:sp>
        <p:nvSpPr>
          <p:cNvPr id="197" name="Google Shape;197;p28"/>
          <p:cNvSpPr txBox="1"/>
          <p:nvPr/>
        </p:nvSpPr>
        <p:spPr>
          <a:xfrm>
            <a:off x="571500" y="3295650"/>
            <a:ext cx="495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8"/>
          <p:cNvSpPr txBox="1"/>
          <p:nvPr/>
        </p:nvSpPr>
        <p:spPr>
          <a:xfrm>
            <a:off x="571500" y="1280850"/>
            <a:ext cx="4953000" cy="53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b="1" lang="en-US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Teams to Drivers (One-to-Many):</a:t>
            </a:r>
            <a:r>
              <a:rPr lang="en-US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One team employs multiple drivers (typically two main drivers and reserves), but each driver competes for only one team at a specific time.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b="1" lang="en-US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Teams to Cars (One-to-Many):</a:t>
            </a:r>
            <a:r>
              <a:rPr lang="en-US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Each team designs and owns multiple cars (chassis), but a specific car is tied to its constructor team.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b="1" lang="en-US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Circuits to Races (One-to-Many):</a:t>
            </a:r>
            <a:r>
              <a:rPr lang="en-US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A single circuit can host many races over different seasons, while a specific race event is tied to one unique circuit location.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b="1" lang="en-US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Races to Race_Results (One-to-Many):</a:t>
            </a:r>
            <a:r>
              <a:rPr lang="en-US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One race event generates multiple result entries—one for every driver who participated in that session.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b="1" lang="en-US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Drivers to Race_Results (One-to-Many):</a:t>
            </a:r>
            <a:r>
              <a:rPr lang="en-US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A single driver accumulates many result records throughout their career across different race events.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99" name="Google Shape;199;p28"/>
          <p:cNvPicPr preferRelativeResize="0"/>
          <p:nvPr/>
        </p:nvPicPr>
        <p:blipFill rotWithShape="1">
          <a:blip r:embed="rId4">
            <a:alphaModFix/>
          </a:blip>
          <a:srcRect b="0" l="0" r="43340" t="0"/>
          <a:stretch/>
        </p:blipFill>
        <p:spPr>
          <a:xfrm>
            <a:off x="6587375" y="0"/>
            <a:ext cx="5662897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78781"/>
            <a:ext cx="3492549" cy="40528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678781"/>
            <a:ext cx="3492549" cy="40528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678781"/>
            <a:ext cx="3492549" cy="4052887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9"/>
          <p:cNvSpPr txBox="1"/>
          <p:nvPr/>
        </p:nvSpPr>
        <p:spPr>
          <a:xfrm>
            <a:off x="904875" y="2793206"/>
            <a:ext cx="29670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Asset Management</a:t>
            </a:r>
            <a:endParaRPr/>
          </a:p>
        </p:txBody>
      </p:sp>
      <p:sp>
        <p:nvSpPr>
          <p:cNvPr id="209" name="Google Shape;209;p29"/>
          <p:cNvSpPr txBox="1"/>
          <p:nvPr/>
        </p:nvSpPr>
        <p:spPr>
          <a:xfrm>
            <a:off x="904875" y="3431381"/>
            <a:ext cx="28257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Full control over the technical and organizational foundation of the racing season.</a:t>
            </a:r>
            <a:endParaRPr/>
          </a:p>
        </p:txBody>
      </p:sp>
      <p:sp>
        <p:nvSpPr>
          <p:cNvPr id="210" name="Google Shape;210;p29"/>
          <p:cNvSpPr txBox="1"/>
          <p:nvPr/>
        </p:nvSpPr>
        <p:spPr>
          <a:xfrm>
            <a:off x="4683174" y="2793206"/>
            <a:ext cx="29670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Race Operations</a:t>
            </a:r>
            <a:endParaRPr/>
          </a:p>
        </p:txBody>
      </p:sp>
      <p:sp>
        <p:nvSpPr>
          <p:cNvPr id="211" name="Google Shape;211;p29"/>
          <p:cNvSpPr txBox="1"/>
          <p:nvPr/>
        </p:nvSpPr>
        <p:spPr>
          <a:xfrm>
            <a:off x="4683174" y="3431381"/>
            <a:ext cx="28257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Seamless ingestion of competitive data to maintain a live championship record.</a:t>
            </a:r>
            <a:endParaRPr/>
          </a:p>
        </p:txBody>
      </p:sp>
      <p:sp>
        <p:nvSpPr>
          <p:cNvPr id="212" name="Google Shape;212;p29"/>
          <p:cNvSpPr txBox="1"/>
          <p:nvPr/>
        </p:nvSpPr>
        <p:spPr>
          <a:xfrm>
            <a:off x="8461474" y="2793206"/>
            <a:ext cx="29670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Performance Intel</a:t>
            </a:r>
            <a:endParaRPr/>
          </a:p>
        </p:txBody>
      </p:sp>
      <p:sp>
        <p:nvSpPr>
          <p:cNvPr id="213" name="Google Shape;213;p29"/>
          <p:cNvSpPr txBox="1"/>
          <p:nvPr/>
        </p:nvSpPr>
        <p:spPr>
          <a:xfrm>
            <a:off x="8461474" y="3431381"/>
            <a:ext cx="28257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Advanced metrics that go beyond the leaderboard to measure true efficiency.</a:t>
            </a:r>
            <a:endParaRPr/>
          </a:p>
        </p:txBody>
      </p:sp>
      <p:pic>
        <p:nvPicPr>
          <p:cNvPr descr="image.png" id="214" name="Google Shape;214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4875" y="2088356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9"/>
          <p:cNvSpPr txBox="1"/>
          <p:nvPr/>
        </p:nvSpPr>
        <p:spPr>
          <a:xfrm>
            <a:off x="1095375" y="4255293"/>
            <a:ext cx="2635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Circuit &amp; Track Geography</a:t>
            </a:r>
            <a:endParaRPr/>
          </a:p>
        </p:txBody>
      </p:sp>
      <p:sp>
        <p:nvSpPr>
          <p:cNvPr id="216" name="Google Shape;216;p29"/>
          <p:cNvSpPr txBox="1"/>
          <p:nvPr/>
        </p:nvSpPr>
        <p:spPr>
          <a:xfrm>
            <a:off x="1095375" y="4502943"/>
            <a:ext cx="2635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Team Budgetary Limits</a:t>
            </a:r>
            <a:endParaRPr/>
          </a:p>
        </p:txBody>
      </p:sp>
      <p:sp>
        <p:nvSpPr>
          <p:cNvPr id="217" name="Google Shape;217;p29"/>
          <p:cNvSpPr txBox="1"/>
          <p:nvPr/>
        </p:nvSpPr>
        <p:spPr>
          <a:xfrm>
            <a:off x="1095375" y="4750593"/>
            <a:ext cx="2635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Technical Car Specifications</a:t>
            </a:r>
            <a:endParaRPr/>
          </a:p>
        </p:txBody>
      </p:sp>
      <p:sp>
        <p:nvSpPr>
          <p:cNvPr id="218" name="Google Shape;218;p29"/>
          <p:cNvSpPr txBox="1"/>
          <p:nvPr/>
        </p:nvSpPr>
        <p:spPr>
          <a:xfrm>
            <a:off x="1095375" y="4998243"/>
            <a:ext cx="2635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Driver Contracts &amp; Salaries</a:t>
            </a:r>
            <a:endParaRPr/>
          </a:p>
        </p:txBody>
      </p:sp>
      <p:pic>
        <p:nvPicPr>
          <p:cNvPr descr="image.png" id="219" name="Google Shape;219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83174" y="2088356"/>
            <a:ext cx="37147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9"/>
          <p:cNvSpPr txBox="1"/>
          <p:nvPr/>
        </p:nvSpPr>
        <p:spPr>
          <a:xfrm>
            <a:off x="4873674" y="4255293"/>
            <a:ext cx="2635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Dynamic Calendar Scheduling</a:t>
            </a:r>
            <a:endParaRPr/>
          </a:p>
        </p:txBody>
      </p:sp>
      <p:sp>
        <p:nvSpPr>
          <p:cNvPr id="221" name="Google Shape;221;p29"/>
          <p:cNvSpPr txBox="1"/>
          <p:nvPr/>
        </p:nvSpPr>
        <p:spPr>
          <a:xfrm>
            <a:off x="4873674" y="4502943"/>
            <a:ext cx="2635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Race Classification Entry</a:t>
            </a:r>
            <a:endParaRPr/>
          </a:p>
        </p:txBody>
      </p:sp>
      <p:sp>
        <p:nvSpPr>
          <p:cNvPr id="222" name="Google Shape;222;p29"/>
          <p:cNvSpPr txBox="1"/>
          <p:nvPr/>
        </p:nvSpPr>
        <p:spPr>
          <a:xfrm>
            <a:off x="4873674" y="4750593"/>
            <a:ext cx="2635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Real-time Result Ingestion</a:t>
            </a:r>
            <a:endParaRPr/>
          </a:p>
        </p:txBody>
      </p:sp>
      <p:sp>
        <p:nvSpPr>
          <p:cNvPr id="223" name="Google Shape;223;p29"/>
          <p:cNvSpPr txBox="1"/>
          <p:nvPr/>
        </p:nvSpPr>
        <p:spPr>
          <a:xfrm>
            <a:off x="4873674" y="4998243"/>
            <a:ext cx="2635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Automated Point Distribution</a:t>
            </a:r>
            <a:endParaRPr/>
          </a:p>
        </p:txBody>
      </p:sp>
      <p:pic>
        <p:nvPicPr>
          <p:cNvPr descr="image.png" id="224" name="Google Shape;224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61474" y="2088356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9"/>
          <p:cNvSpPr txBox="1"/>
          <p:nvPr/>
        </p:nvSpPr>
        <p:spPr>
          <a:xfrm>
            <a:off x="8651974" y="4255293"/>
            <a:ext cx="2635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Cost-per-Point Efficiency (KPI)</a:t>
            </a:r>
            <a:endParaRPr/>
          </a:p>
        </p:txBody>
      </p:sp>
      <p:sp>
        <p:nvSpPr>
          <p:cNvPr id="226" name="Google Shape;226;p29"/>
          <p:cNvSpPr txBox="1"/>
          <p:nvPr/>
        </p:nvSpPr>
        <p:spPr>
          <a:xfrm>
            <a:off x="8651974" y="4502943"/>
            <a:ext cx="2635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Historical Driver Career Stats</a:t>
            </a:r>
            <a:endParaRPr/>
          </a:p>
        </p:txBody>
      </p:sp>
      <p:sp>
        <p:nvSpPr>
          <p:cNvPr id="227" name="Google Shape;227;p29"/>
          <p:cNvSpPr txBox="1"/>
          <p:nvPr/>
        </p:nvSpPr>
        <p:spPr>
          <a:xfrm>
            <a:off x="8651974" y="4750593"/>
            <a:ext cx="2635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Automated Team Standings</a:t>
            </a:r>
            <a:endParaRPr/>
          </a:p>
        </p:txBody>
      </p:sp>
      <p:sp>
        <p:nvSpPr>
          <p:cNvPr id="228" name="Google Shape;228;p29"/>
          <p:cNvSpPr txBox="1"/>
          <p:nvPr/>
        </p:nvSpPr>
        <p:spPr>
          <a:xfrm>
            <a:off x="8651974" y="4998243"/>
            <a:ext cx="2635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Interactive Data Dashboard</a:t>
            </a:r>
            <a:endParaRPr/>
          </a:p>
        </p:txBody>
      </p:sp>
      <p:sp>
        <p:nvSpPr>
          <p:cNvPr id="229" name="Google Shape;229;p29"/>
          <p:cNvSpPr txBox="1"/>
          <p:nvPr/>
        </p:nvSpPr>
        <p:spPr>
          <a:xfrm>
            <a:off x="904875" y="4255293"/>
            <a:ext cx="1428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E10600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30" name="Google Shape;230;p29"/>
          <p:cNvSpPr txBox="1"/>
          <p:nvPr/>
        </p:nvSpPr>
        <p:spPr>
          <a:xfrm>
            <a:off x="904875" y="4502943"/>
            <a:ext cx="1428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E10600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31" name="Google Shape;231;p29"/>
          <p:cNvSpPr txBox="1"/>
          <p:nvPr/>
        </p:nvSpPr>
        <p:spPr>
          <a:xfrm>
            <a:off x="904875" y="4750593"/>
            <a:ext cx="1428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E10600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32" name="Google Shape;232;p29"/>
          <p:cNvSpPr txBox="1"/>
          <p:nvPr/>
        </p:nvSpPr>
        <p:spPr>
          <a:xfrm>
            <a:off x="904875" y="4998243"/>
            <a:ext cx="1428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E10600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33" name="Google Shape;233;p29"/>
          <p:cNvSpPr txBox="1"/>
          <p:nvPr/>
        </p:nvSpPr>
        <p:spPr>
          <a:xfrm>
            <a:off x="4683174" y="4255293"/>
            <a:ext cx="1428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E10600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34" name="Google Shape;234;p29"/>
          <p:cNvSpPr txBox="1"/>
          <p:nvPr/>
        </p:nvSpPr>
        <p:spPr>
          <a:xfrm>
            <a:off x="4683174" y="4502943"/>
            <a:ext cx="1428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E10600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35" name="Google Shape;235;p29"/>
          <p:cNvSpPr txBox="1"/>
          <p:nvPr/>
        </p:nvSpPr>
        <p:spPr>
          <a:xfrm>
            <a:off x="4683174" y="4750593"/>
            <a:ext cx="1428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E10600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36" name="Google Shape;236;p29"/>
          <p:cNvSpPr txBox="1"/>
          <p:nvPr/>
        </p:nvSpPr>
        <p:spPr>
          <a:xfrm>
            <a:off x="4683174" y="4998243"/>
            <a:ext cx="1428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E10600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37" name="Google Shape;237;p29"/>
          <p:cNvSpPr txBox="1"/>
          <p:nvPr/>
        </p:nvSpPr>
        <p:spPr>
          <a:xfrm>
            <a:off x="8461474" y="4255293"/>
            <a:ext cx="1428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E10600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38" name="Google Shape;238;p29"/>
          <p:cNvSpPr txBox="1"/>
          <p:nvPr/>
        </p:nvSpPr>
        <p:spPr>
          <a:xfrm>
            <a:off x="8461474" y="4502943"/>
            <a:ext cx="1428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E10600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39" name="Google Shape;239;p29"/>
          <p:cNvSpPr txBox="1"/>
          <p:nvPr/>
        </p:nvSpPr>
        <p:spPr>
          <a:xfrm>
            <a:off x="8461474" y="4750593"/>
            <a:ext cx="1428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E10600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40" name="Google Shape;240;p29"/>
          <p:cNvSpPr txBox="1"/>
          <p:nvPr/>
        </p:nvSpPr>
        <p:spPr>
          <a:xfrm>
            <a:off x="8461474" y="4998243"/>
            <a:ext cx="1428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E10600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41" name="Google Shape;241;p29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Platform </a:t>
            </a:r>
            <a:r>
              <a:rPr b="1" i="0" lang="en-US" sz="3600" u="none" cap="none" strike="noStrike">
                <a:solidFill>
                  <a:srgbClr val="E10600"/>
                </a:solidFill>
                <a:latin typeface="Urbanist"/>
                <a:ea typeface="Urbanist"/>
                <a:cs typeface="Urbanist"/>
                <a:sym typeface="Urbanist"/>
              </a:rPr>
              <a:t>Core</a:t>
            </a: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Functionalities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0"/>
          <p:cNvSpPr txBox="1"/>
          <p:nvPr/>
        </p:nvSpPr>
        <p:spPr>
          <a:xfrm>
            <a:off x="295275" y="571500"/>
            <a:ext cx="11601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0"/>
          <p:cNvSpPr txBox="1"/>
          <p:nvPr/>
        </p:nvSpPr>
        <p:spPr>
          <a:xfrm>
            <a:off x="571500" y="1905000"/>
            <a:ext cx="1104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Thank you for your attention</a:t>
            </a:r>
            <a:endParaRPr sz="3200"/>
          </a:p>
        </p:txBody>
      </p:sp>
      <p:sp>
        <p:nvSpPr>
          <p:cNvPr id="249" name="Google Shape;249;p30"/>
          <p:cNvSpPr txBox="1"/>
          <p:nvPr/>
        </p:nvSpPr>
        <p:spPr>
          <a:xfrm>
            <a:off x="571500" y="2638425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